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6400" b="1">
                <a:solidFill>
                  <a:srgbClr val="FFFFFF"/>
                </a:solidFill>
                <a:latin typeface="Calibri"/>
              </a:rPr>
              <a:t>MAD Quiz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3600" b="0">
                <a:solidFill>
                  <a:srgbClr val="2196F3"/>
                </a:solidFill>
                <a:latin typeface="Calibri"/>
              </a:rPr>
              <a:t>Flutter &amp; Dart Crash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200" b="0">
                <a:solidFill>
                  <a:srgbClr val="FBC02D"/>
                </a:solidFill>
                <a:latin typeface="Calibri"/>
              </a:rPr>
              <a:t>Everything you need to know for the lab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1800" b="0">
                <a:solidFill>
                  <a:srgbClr val="FFFFFF"/>
                </a:solidFill>
                <a:latin typeface="Calibri"/>
              </a:rPr>
              <a:t>Mobile Application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Nine key concepts that show up across all 36 quiz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spcAft>
                <a:spcPts val="800"/>
              </a:spcAft>
              <a:buNone/>
            </a:pPr>
            <a:r>
              <a:rPr sz="2400">
                <a:solidFill>
                  <a:srgbClr val="333333"/>
                </a:solidFill>
                <a:latin typeface="Calibri"/>
              </a:rPr>
              <a:t>•  1.  Flutter vs Dart — what's what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400">
                <a:solidFill>
                  <a:srgbClr val="333333"/>
                </a:solidFill>
                <a:latin typeface="Calibri"/>
              </a:rPr>
              <a:t>•  2.  The Dart entry point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400">
                <a:solidFill>
                  <a:srgbClr val="333333"/>
                </a:solidFill>
                <a:latin typeface="Calibri"/>
              </a:rPr>
              <a:t>•  3.  Variables &amp; types (var / final / const / int / double / bool)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400">
                <a:solidFill>
                  <a:srgbClr val="333333"/>
                </a:solidFill>
                <a:latin typeface="Calibri"/>
              </a:rPr>
              <a:t>•  4.  Collections (List, Set, Map)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400">
                <a:solidFill>
                  <a:srgbClr val="333333"/>
                </a:solidFill>
                <a:latin typeface="Calibri"/>
              </a:rPr>
              <a:t>•  5.  Null safety with the ?? operator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400">
                <a:solidFill>
                  <a:srgbClr val="333333"/>
                </a:solidFill>
                <a:latin typeface="Calibri"/>
              </a:rPr>
              <a:t>•  6.  Functions — positional vs named parameters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400">
                <a:solidFill>
                  <a:srgbClr val="333333"/>
                </a:solidFill>
                <a:latin typeface="Calibri"/>
              </a:rPr>
              <a:t>•  7.  Stateless vs Stateful widgets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400">
                <a:solidFill>
                  <a:srgbClr val="333333"/>
                </a:solidFill>
                <a:latin typeface="Calibri"/>
              </a:rPr>
              <a:t>•  8.  Common widgets and their key parameters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400">
                <a:solidFill>
                  <a:srgbClr val="333333"/>
                </a:solidFill>
                <a:latin typeface="Calibri"/>
              </a:rPr>
              <a:t>•  9.  TextField + TextEditingController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1">
                <a:solidFill>
                  <a:srgbClr val="FBC02D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5200" b="1">
                <a:solidFill>
                  <a:srgbClr val="FFFFFF"/>
                </a:solidFill>
                <a:latin typeface="Calibri"/>
              </a:rPr>
              <a:t>Flutter vs Dart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2196F3"/>
                </a:solidFill>
                <a:latin typeface="Calibri"/>
              </a:rPr>
              <a:t>MAD Quiz Prep — Flutter &amp; Dart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Flutter vs Dart — two different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1">
                <a:solidFill>
                  <a:srgbClr val="2196F3"/>
                </a:solidFill>
                <a:latin typeface="Calibri"/>
              </a:rPr>
              <a:t>Dart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A programming LANGUAGE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Like English — the words you write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Made by Google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Pure object-oriented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Everything is an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1">
                <a:solidFill>
                  <a:srgbClr val="2E7D32"/>
                </a:solidFill>
                <a:latin typeface="Calibri"/>
              </a:rPr>
              <a:t>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A UI FRAMEWORK / toolkit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Built using Dart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Made by Google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Gives you pre-made widgets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You write Dart, you USE 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1">
                <a:solidFill>
                  <a:srgbClr val="C62828"/>
                </a:solidFill>
                <a:latin typeface="Calibri"/>
              </a:rPr>
              <a:t>💡 You code in Dart, using the Flutter 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One codebase → all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0">
                <a:solidFill>
                  <a:srgbClr val="333333"/>
                </a:solidFill>
                <a:latin typeface="Calibri"/>
              </a:rPr>
              <a:t>Write your code ONCE in Dart. Flutter runs it 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291840" cy="10972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📱 Android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3291840" cy="10972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834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🍎 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60320"/>
            <a:ext cx="3291840" cy="10972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834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🌐 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291840" cy="10972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🪟 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931920"/>
            <a:ext cx="3291840" cy="10972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💻 macOS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31920"/>
            <a:ext cx="3291840" cy="10972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🐧 Linux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1">
                <a:solidFill>
                  <a:srgbClr val="C62828"/>
                </a:solidFill>
                <a:latin typeface="Calibri"/>
              </a:rPr>
              <a:t>⚠ Dart can target iOS too — don't get tricked by 'NOT iOS' true/false 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Both are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1">
                <a:solidFill>
                  <a:srgbClr val="2E7D32"/>
                </a:solidFill>
                <a:latin typeface="Calibri"/>
              </a:rPr>
              <a:t>Flutter ✅ 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1">
                <a:solidFill>
                  <a:srgbClr val="2E7D32"/>
                </a:solidFill>
                <a:latin typeface="Calibri"/>
              </a:rPr>
              <a:t>Dart ✅ 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Both released by Google under BSD-style licenses.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1800" b="1">
                <a:solidFill>
                  <a:srgbClr val="C62828"/>
                </a:solidFill>
                <a:latin typeface="Calibri"/>
              </a:rPr>
              <a:t>🚨 Quiz trick: 'Only Dart is open source' → 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DartPad — the online playground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1">
                <a:solidFill>
                  <a:srgbClr val="2196F3"/>
                </a:solidFill>
                <a:latin typeface="Calibri"/>
              </a:rPr>
              <a:t>dartpad.dev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spcAft>
                <a:spcPts val="800"/>
              </a:spcAft>
              <a:buNone/>
            </a:pPr>
            <a:r>
              <a:rPr sz="2200">
                <a:solidFill>
                  <a:srgbClr val="333333"/>
                </a:solidFill>
                <a:latin typeface="Calibri"/>
              </a:rPr>
              <a:t>•  Runs BOTH plain Dart programs AND Flutter apps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200">
                <a:solidFill>
                  <a:srgbClr val="333333"/>
                </a:solidFill>
                <a:latin typeface="Calibri"/>
              </a:rPr>
              <a:t>•  No installation needed — just a browser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200">
                <a:solidFill>
                  <a:srgbClr val="333333"/>
                </a:solidFill>
                <a:latin typeface="Calibri"/>
              </a:rPr>
              <a:t>•  Perfect for practice and quick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1">
                <a:solidFill>
                  <a:srgbClr val="C62828"/>
                </a:solidFill>
                <a:latin typeface="Calibri"/>
              </a:rPr>
              <a:t>🚨 Quiz trick: 'DartPad can ONLY run Dart, not Flutter' →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1">
                <a:solidFill>
                  <a:srgbClr val="FBC02D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5200" b="1">
                <a:solidFill>
                  <a:srgbClr val="FFFFFF"/>
                </a:solidFill>
                <a:latin typeface="Calibri"/>
              </a:rPr>
              <a:t>The Dart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2196F3"/>
                </a:solidFill>
                <a:latin typeface="Calibri"/>
              </a:rPr>
              <a:t>MAD Quiz Prep — Flutter &amp; Dart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Every Dart program starts at main()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828800"/>
            <a:ext cx="77724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400">
                <a:solidFill>
                  <a:srgbClr val="E8E8E8"/>
                </a:solidFill>
                <a:latin typeface="Consolas"/>
              </a:rPr>
              <a:t>void main() {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400">
                <a:solidFill>
                  <a:srgbClr val="E8E8E8"/>
                </a:solidFill>
                <a:latin typeface="Consolas"/>
              </a:rPr>
              <a:t>  // your program starts here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40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400" b="1">
                <a:solidFill>
                  <a:srgbClr val="0A2E4F"/>
                </a:solidFill>
                <a:latin typeface="Calibri"/>
              </a:rPr>
              <a:t>Rules: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Lowercase 'm' → main, NOT Main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Return type is void, NOT Void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000">
                <a:solidFill>
                  <a:srgbClr val="333333"/>
                </a:solidFill>
                <a:latin typeface="Calibri"/>
              </a:rPr>
              <a:t>•  Dart is case-sensitive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Spot the valid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0">
                <a:solidFill>
                  <a:srgbClr val="333333"/>
                </a:solidFill>
                <a:latin typeface="Calibri"/>
              </a:rPr>
              <a:t>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874520"/>
            <a:ext cx="82296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void main() {}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0">
                <a:solidFill>
                  <a:srgbClr val="333333"/>
                </a:solidFill>
                <a:latin typeface="Calibri"/>
              </a:rPr>
              <a:t>❌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880360"/>
            <a:ext cx="82296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Void Main(String a) {}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0">
                <a:solidFill>
                  <a:srgbClr val="333333"/>
                </a:solidFill>
                <a:latin typeface="Calibri"/>
              </a:rPr>
              <a:t>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3886200"/>
            <a:ext cx="82296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void Main() {}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0">
                <a:solidFill>
                  <a:srgbClr val="333333"/>
                </a:solidFill>
                <a:latin typeface="Calibri"/>
              </a:rPr>
              <a:t>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892040"/>
            <a:ext cx="82296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Void main() {}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1">
                <a:solidFill>
                  <a:srgbClr val="FBC02D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5200" b="1">
                <a:solidFill>
                  <a:srgbClr val="FFFFFF"/>
                </a:solidFill>
                <a:latin typeface="Calibri"/>
              </a:rPr>
              <a:t>Variables &amp;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2196F3"/>
                </a:solidFill>
                <a:latin typeface="Calibri"/>
              </a:rPr>
              <a:t>MAD Quiz Prep — Flutter &amp; Dart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Four ways to declare a variable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var name = 'Alex';        // Dart infers the type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String name2 = 'Alex';    // you specify the type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final age = 30;           // set ONCE, cannot change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const pi = 3.14;          // compile-time constant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2196F3"/>
                </a:solidFill>
                <a:latin typeface="Calibri"/>
              </a:rPr>
              <a:t>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333333"/>
                </a:solidFill>
                <a:latin typeface="Calibri"/>
              </a:rPr>
              <a:t>sticky note — rewritable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2196F3"/>
                </a:solidFill>
                <a:latin typeface="Calibri"/>
              </a:rPr>
              <a:t>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333333"/>
                </a:solidFill>
                <a:latin typeface="Calibri"/>
              </a:rPr>
              <a:t>ink — write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2196F3"/>
                </a:solidFill>
                <a:latin typeface="Calibri"/>
              </a:rPr>
              <a:t>const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333333"/>
                </a:solidFill>
                <a:latin typeface="Calibri"/>
              </a:rPr>
              <a:t>engraved in stone (compile time)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⚠ The final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1554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final e;       // ❌ COMPILE ERROR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e = 10;        // too late!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2E7D32"/>
                </a:solidFill>
                <a:latin typeface="Calibri"/>
              </a:rPr>
              <a:t>Fix: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final e = 10;     // ✅ initialize at declaration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1">
                <a:solidFill>
                  <a:srgbClr val="C62828"/>
                </a:solidFill>
                <a:latin typeface="Calibri"/>
              </a:rPr>
              <a:t>📌 Rule: final MUST be assigned at the moment you declare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int ≠ double  (they are different types)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1554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int i = 5;           // i is an int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double d = 5.0;      // d is a double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Even though 5 and 5.0 look similar...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spcAft>
                <a:spcPts val="800"/>
              </a:spcAft>
              <a:buNone/>
            </a:pPr>
            <a:r>
              <a:rPr sz="2200">
                <a:solidFill>
                  <a:srgbClr val="333333"/>
                </a:solidFill>
                <a:latin typeface="Calibri"/>
              </a:rPr>
              <a:t>•  An int is NOT also a double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200">
                <a:solidFill>
                  <a:srgbClr val="333333"/>
                </a:solidFill>
                <a:latin typeface="Calibri"/>
              </a:rPr>
              <a:t>•  A double is NOT also an int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200">
                <a:solidFill>
                  <a:srgbClr val="333333"/>
                </a:solidFill>
                <a:latin typeface="Calibri"/>
              </a:rPr>
              <a:t>•  They are SEPARATE types in Dart's type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Booleans — strict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0">
                <a:solidFill>
                  <a:srgbClr val="333333"/>
                </a:solidFill>
                <a:latin typeface="Calibri"/>
              </a:rPr>
              <a:t>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874520"/>
            <a:ext cx="82296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bool isValid = true;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0">
                <a:solidFill>
                  <a:srgbClr val="333333"/>
                </a:solidFill>
                <a:latin typeface="Calibri"/>
              </a:rPr>
              <a:t>❌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788920"/>
            <a:ext cx="82296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bool isValid = "true";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0">
                <a:solidFill>
                  <a:srgbClr val="333333"/>
                </a:solidFill>
                <a:latin typeface="Calibri"/>
              </a:rPr>
              <a:t>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3703320"/>
            <a:ext cx="82296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bool isValid = 1;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0">
                <a:solidFill>
                  <a:srgbClr val="333333"/>
                </a:solidFill>
                <a:latin typeface="Calibri"/>
              </a:rPr>
              <a:t>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617720"/>
            <a:ext cx="82296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boolean isValid = false;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1">
                <a:solidFill>
                  <a:srgbClr val="2E7D32"/>
                </a:solidFill>
                <a:latin typeface="Calibri"/>
              </a:rPr>
              <a:t>📌 Use bool (not boolean) with literal true / false.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⚠ The curly brace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2E7D32"/>
                </a:solidFill>
                <a:latin typeface="Calibri"/>
              </a:rPr>
              <a:t>Both work for Strings: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var s = 'Hi';      // ✅ String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var s = "Hi";      // ✅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C62828"/>
                </a:solidFill>
                <a:latin typeface="Calibri"/>
              </a:rPr>
              <a:t>But curly braces are NOT a string: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var s = {"Hi"};   // ❌ This is a SET, not a String!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1">
                <a:solidFill>
                  <a:srgbClr val="C62828"/>
                </a:solidFill>
                <a:latin typeface="Calibri"/>
              </a:rPr>
              <a:t>🎯 This is one of THE most common quiz tricks.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String interpolation — drop values into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var name = 'Sam';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var age = 21;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print('Hi $name, next year: ${age + 1}');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200">
                <a:solidFill>
                  <a:srgbClr val="E8E8E8"/>
                </a:solidFill>
                <a:latin typeface="Consolas"/>
              </a:rPr>
              <a:t>// Output:  Hi Sam, next year: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spcAft>
                <a:spcPts val="800"/>
              </a:spcAft>
              <a:buNone/>
            </a:pPr>
            <a:r>
              <a:rPr sz="2200">
                <a:solidFill>
                  <a:srgbClr val="333333"/>
                </a:solidFill>
                <a:latin typeface="Calibri"/>
              </a:rPr>
              <a:t>•  $variable — drop in a single variable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2200">
                <a:solidFill>
                  <a:srgbClr val="333333"/>
                </a:solidFill>
                <a:latin typeface="Calibri"/>
              </a:rPr>
              <a:t>•  ${expression} — wrap any calculation in {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Parsing strings into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int.parse('11')        // → 11        (int)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double.parse('11.8')   // → 11.8      (double)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var m = int.parse('11');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var n = double.parse('11.8');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print('Difference is ${m - n}');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// Output:  Difference is -0.8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1">
                <a:solidFill>
                  <a:srgbClr val="FBC02D"/>
                </a:solidFill>
                <a:latin typeface="Calibri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5200" b="1">
                <a:solidFill>
                  <a:srgbClr val="FFFFFF"/>
                </a:solidFill>
                <a:latin typeface="Calibri"/>
              </a:rPr>
              <a:t>Collections — List, Set,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2196F3"/>
                </a:solidFill>
                <a:latin typeface="Calibri"/>
              </a:rPr>
              <a:t>MAD Quiz Prep — Flutter &amp; Dart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Three containers — tell them apart by brackets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3200" b="1">
                <a:solidFill>
                  <a:srgbClr val="FFFFFF"/>
                </a:solidFill>
                <a:latin typeface="Calibri"/>
              </a:rPr>
              <a:t>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4400" b="1">
                <a:solidFill>
                  <a:srgbClr val="FBC02D"/>
                </a:solidFill>
                <a:latin typeface="Calibri"/>
              </a:rPr>
              <a:t>[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200" b="0">
                <a:solidFill>
                  <a:srgbClr val="FFFFFF"/>
                </a:solidFill>
                <a:latin typeface="Consolas"/>
              </a:rPr>
              <a:t>[1, 2, 2, 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FFFFFF"/>
                </a:solidFill>
                <a:latin typeface="Calibri"/>
              </a:rPr>
              <a:t>Ordered
Duplicates 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657600" cy="4114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3200" b="1">
                <a:solidFill>
                  <a:srgbClr val="FFFFFF"/>
                </a:solidFill>
                <a:latin typeface="Calibri"/>
              </a:rPr>
              <a:t>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4400" b="1">
                <a:solidFill>
                  <a:srgbClr val="FBC02D"/>
                </a:solidFill>
                <a:latin typeface="Calibri"/>
              </a:rPr>
              <a:t>{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200" b="0">
                <a:solidFill>
                  <a:srgbClr val="FFFFFF"/>
                </a:solidFill>
                <a:latin typeface="Consolas"/>
              </a:rPr>
              <a:t>{1, 2, 3}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06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FFFFFF"/>
                </a:solidFill>
                <a:latin typeface="Calibri"/>
              </a:rPr>
              <a:t>Unique items
No duplicates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657600" cy="41148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320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4000" b="1">
                <a:solidFill>
                  <a:srgbClr val="FBC02D"/>
                </a:solidFill>
                <a:latin typeface="Calibri"/>
              </a:rPr>
              <a:t>{k: v}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200" b="0">
                <a:solidFill>
                  <a:srgbClr val="FFFFFF"/>
                </a:solidFill>
                <a:latin typeface="Consolas"/>
              </a:rPr>
              <a:t>{'Sam': 21}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206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FFFFFF"/>
                </a:solidFill>
                <a:latin typeface="Calibri"/>
              </a:rPr>
              <a:t>Key → value pairs
Like a dictionary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1">
                <a:solidFill>
                  <a:srgbClr val="C62828"/>
                </a:solidFill>
                <a:latin typeface="Calibri"/>
              </a:rPr>
              <a:t>🎯 Trick: Map vs Set both use { } — but Map has 'key: value' pairs.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Quick check — what's the type?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400">
                <a:solidFill>
                  <a:srgbClr val="E8E8E8"/>
                </a:solidFill>
                <a:latin typeface="Consolas"/>
              </a:rPr>
              <a:t>var r = {'Betty': 10, 'Allan': 30};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400" b="1">
                <a:solidFill>
                  <a:srgbClr val="0A2E4F"/>
                </a:solidFill>
                <a:latin typeface="Calibri"/>
              </a:rPr>
              <a:t>❓ Is r a String, Set, Map, or List?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1">
                <a:solidFill>
                  <a:srgbClr val="2E7D32"/>
                </a:solidFill>
                <a:latin typeface="Calibri"/>
              </a:rPr>
              <a:t>✅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Because it has key: value pairs.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1">
                <a:solidFill>
                  <a:srgbClr val="FBC02D"/>
                </a:solidFill>
                <a:latin typeface="Calibri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5200" b="1">
                <a:solidFill>
                  <a:srgbClr val="FFFFFF"/>
                </a:solidFill>
                <a:latin typeface="Calibri"/>
              </a:rPr>
              <a:t>Null Safety — the ??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2196F3"/>
                </a:solidFill>
                <a:latin typeface="Calibri"/>
              </a:rPr>
              <a:t>MAD Quiz Prep — Flutter &amp; Dart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The ?? backup-plan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?? means: 'use the left side, but if it's null, use the right side.'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void main() {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 int? x;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 var y = 40;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 var val = x ?? y;   // x is null → use y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 print(val);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}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// Output: 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1">
                <a:solidFill>
                  <a:srgbClr val="2E7D32"/>
                </a:solidFill>
                <a:latin typeface="Calibri"/>
              </a:rPr>
              <a:t>📌 'int?' = nullable.  '??' = fallback when null.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1">
                <a:solidFill>
                  <a:srgbClr val="FBC02D"/>
                </a:solidFill>
                <a:latin typeface="Calibri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5200" b="1">
                <a:solidFill>
                  <a:srgbClr val="FFFFFF"/>
                </a:solidFill>
                <a:latin typeface="Calibri"/>
              </a:rPr>
              <a:t>Functions — Positional vs Named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2196F3"/>
                </a:solidFill>
                <a:latin typeface="Calibri"/>
              </a:rPr>
              <a:t>MAD Quiz Prep — Flutter &amp; Dart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Two ways to pass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400" b="1">
                <a:solidFill>
                  <a:srgbClr val="2196F3"/>
                </a:solidFill>
                <a:latin typeface="Calibri"/>
              </a:rPr>
              <a:t>Positional — order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515600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int add(int a, int b) =&gt; a + b;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add(9, 10);     // a=9, b=10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400" b="1">
                <a:solidFill>
                  <a:srgbClr val="2196F3"/>
                </a:solidFill>
                <a:latin typeface="Calibri"/>
              </a:rPr>
              <a:t>Named — wrapped in { }, called with name: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105156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void greet({required String name, int age = 0}) { ... }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greet(name: 'Sam', age: 21);    // ✅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greet('Sam');                    // ❌ must use the label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Mixing positional + named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void getResult(String operator, int n1, {int n2 = 1}) {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 // ...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2E7D32"/>
                </a:solidFill>
                <a:latin typeface="Calibri"/>
              </a:rPr>
              <a:t>Valid calls: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spcAft>
                <a:spcPts val="800"/>
              </a:spcAft>
              <a:buNone/>
            </a:pPr>
            <a:r>
              <a:rPr sz="1800">
                <a:solidFill>
                  <a:srgbClr val="333333"/>
                </a:solidFill>
                <a:latin typeface="Calibri"/>
              </a:rPr>
              <a:t>•  getResult('+', 9, 10);          // all positional — n2 = 10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1800">
                <a:solidFill>
                  <a:srgbClr val="333333"/>
                </a:solidFill>
                <a:latin typeface="Calibri"/>
              </a:rPr>
              <a:t>•  getResult('sqrt', 9);            // n2 defaults to 1</a:t>
            </a:r>
          </a:p>
          <a:p>
            <a:pPr marL="0" indent="0" lvl="0">
              <a:spcAft>
                <a:spcPts val="800"/>
              </a:spcAft>
              <a:buNone/>
            </a:pPr>
            <a:r>
              <a:rPr sz="1800">
                <a:solidFill>
                  <a:srgbClr val="333333"/>
                </a:solidFill>
                <a:latin typeface="Calibri"/>
              </a:rPr>
              <a:t>•  getResult('max', 9, n2: 10);     // n2 used by name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1">
                <a:solidFill>
                  <a:srgbClr val="FBC02D"/>
                </a:solidFill>
                <a:latin typeface="Calibri"/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5200" b="1">
                <a:solidFill>
                  <a:srgbClr val="FFFFFF"/>
                </a:solidFill>
                <a:latin typeface="Calibri"/>
              </a:rPr>
              <a:t>Stateless vs Stateful Widgets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2196F3"/>
                </a:solidFill>
                <a:latin typeface="Calibri"/>
              </a:rPr>
              <a:t>MAD Quiz Prep — Flutter &amp; Dart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The fundamental difference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StatelessWidget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400" b="0">
                <a:solidFill>
                  <a:srgbClr val="FBC02D"/>
                </a:solidFill>
                <a:latin typeface="Calibri"/>
              </a:rPr>
              <a:t>📷 Printed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FFFFFF"/>
                </a:solidFill>
                <a:latin typeface="Calibri"/>
              </a:rPr>
              <a:t>Never changes after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FFFFFF"/>
                </a:solidFill>
                <a:latin typeface="Calibri"/>
              </a:rPr>
              <a:t>Example: Text, Icon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1800" b="0">
                <a:solidFill>
                  <a:srgbClr val="FFFFFF"/>
                </a:solidFill>
                <a:latin typeface="Calibri"/>
              </a:rPr>
              <a:t>build() lives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200" b="1">
                <a:solidFill>
                  <a:srgbClr val="FBC02D"/>
                </a:solidFill>
                <a:latin typeface="Calibri"/>
              </a:rPr>
              <a:t>the widget itself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StatefulWidget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400" b="0">
                <a:solidFill>
                  <a:srgbClr val="FBC02D"/>
                </a:solidFill>
                <a:latin typeface="Calibri"/>
              </a:rPr>
              <a:t>🖼 Digital photo 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FFFFFF"/>
                </a:solidFill>
                <a:latin typeface="Calibri"/>
              </a:rPr>
              <a:t>Can change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FFFFFF"/>
                </a:solidFill>
                <a:latin typeface="Calibri"/>
              </a:rPr>
              <a:t>Example: TextField, Checkbox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1800" b="0">
                <a:solidFill>
                  <a:srgbClr val="FFFFFF"/>
                </a:solidFill>
                <a:latin typeface="Calibri"/>
              </a:rPr>
              <a:t>build() lives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200" b="1">
                <a:solidFill>
                  <a:srgbClr val="FBC02D"/>
                </a:solidFill>
                <a:latin typeface="Calibri"/>
              </a:rPr>
              <a:t>the State class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Where does build() 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124712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class Hello extends StatelessWidget {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  Widget build(BuildContext c) =&gt; Text('Hi');  // ✅ build HERE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}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 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class Counter extends StatefulWidget {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  State&lt;Counter&gt; createState() =&gt; _CounterState();  // no build here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}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class _CounterState extends State&lt;Counter&gt; {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  Widget build(BuildContext c) =&gt; Text('count');  // ✅ build HERE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60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1">
                <a:solidFill>
                  <a:srgbClr val="C62828"/>
                </a:solidFill>
                <a:latin typeface="Calibri"/>
              </a:rPr>
              <a:t>📌 StatefulWidget itself has NO build method — it lives in State.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1">
                <a:solidFill>
                  <a:srgbClr val="FBC02D"/>
                </a:solidFill>
                <a:latin typeface="Calibri"/>
              </a:rP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5200" b="1">
                <a:solidFill>
                  <a:srgbClr val="FFFFFF"/>
                </a:solidFill>
                <a:latin typeface="Calibri"/>
              </a:rPr>
              <a:t>Common Widgets &amp; Their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2196F3"/>
                </a:solidFill>
                <a:latin typeface="Calibri"/>
              </a:rPr>
              <a:t>MAD Quiz Prep — Flutter &amp; Dart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Memorize this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1">
                <a:solidFill>
                  <a:srgbClr val="0A2E4F"/>
                </a:solidFill>
                <a:latin typeface="Calibri"/>
              </a:rPr>
              <a:t>Widget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1">
                <a:solidFill>
                  <a:srgbClr val="0A2E4F"/>
                </a:solidFill>
                <a:latin typeface="Calibri"/>
              </a:rPr>
              <a:t>Key 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1">
                <a:solidFill>
                  <a:srgbClr val="0A2E4F"/>
                </a:solidFill>
                <a:latin typeface="Calibri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1">
                <a:solidFill>
                  <a:srgbClr val="2196F3"/>
                </a:solidFill>
                <a:latin typeface="Calibri"/>
              </a:rPr>
              <a:t>MaterialApp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94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0">
                <a:solidFill>
                  <a:srgbClr val="333333"/>
                </a:solidFill>
                <a:latin typeface="Consolas"/>
              </a:rPr>
              <a:t>home: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500" b="0">
                <a:solidFill>
                  <a:srgbClr val="333333"/>
                </a:solidFill>
                <a:latin typeface="Calibri"/>
              </a:rPr>
              <a:t>Root screen of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1">
                <a:solidFill>
                  <a:srgbClr val="2196F3"/>
                </a:solidFill>
                <a:latin typeface="Calibri"/>
              </a:rPr>
              <a:t>Scaffold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97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0">
                <a:solidFill>
                  <a:srgbClr val="333333"/>
                </a:solidFill>
                <a:latin typeface="Consolas"/>
              </a:rPr>
              <a:t>appBar: + body: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500" b="0">
                <a:solidFill>
                  <a:srgbClr val="333333"/>
                </a:solidFill>
                <a:latin typeface="Calibri"/>
              </a:rPr>
              <a:t>Page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1">
                <a:solidFill>
                  <a:srgbClr val="2196F3"/>
                </a:solidFill>
                <a:latin typeface="Calibri"/>
              </a:rPr>
              <a:t>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0">
                <a:solidFill>
                  <a:srgbClr val="333333"/>
                </a:solidFill>
                <a:latin typeface="Consolas"/>
              </a:rPr>
              <a:t>child:  (singular)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500" b="0">
                <a:solidFill>
                  <a:srgbClr val="333333"/>
                </a:solidFill>
                <a:latin typeface="Calibri"/>
              </a:rPr>
              <a:t>Centers ONE widget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1">
                <a:solidFill>
                  <a:srgbClr val="2196F3"/>
                </a:solidFill>
                <a:latin typeface="Calibri"/>
              </a:rPr>
              <a:t>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703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0">
                <a:solidFill>
                  <a:srgbClr val="333333"/>
                </a:solidFill>
                <a:latin typeface="Consolas"/>
              </a:rPr>
              <a:t>child:  (singular)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03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500" b="0">
                <a:solidFill>
                  <a:srgbClr val="333333"/>
                </a:solidFill>
                <a:latin typeface="Calibri"/>
              </a:rPr>
              <a:t>A box you can 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1">
                <a:solidFill>
                  <a:srgbClr val="2196F3"/>
                </a:solidFill>
                <a:latin typeface="Calibri"/>
              </a:rPr>
              <a:t>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206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0">
                <a:solidFill>
                  <a:srgbClr val="333333"/>
                </a:solidFill>
                <a:latin typeface="Consolas"/>
              </a:rPr>
              <a:t>children: (list)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500" b="0">
                <a:solidFill>
                  <a:srgbClr val="333333"/>
                </a:solidFill>
                <a:latin typeface="Calibri"/>
              </a:rPr>
              <a:t>Horizontal layout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1">
                <a:solidFill>
                  <a:srgbClr val="2196F3"/>
                </a:solidFill>
                <a:latin typeface="Calibri"/>
              </a:rPr>
              <a:t>Column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709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0">
                <a:solidFill>
                  <a:srgbClr val="333333"/>
                </a:solidFill>
                <a:latin typeface="Consolas"/>
              </a:rPr>
              <a:t>children: (list)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09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500" b="0">
                <a:solidFill>
                  <a:srgbClr val="333333"/>
                </a:solidFill>
                <a:latin typeface="Calibri"/>
              </a:rPr>
              <a:t>Vertical 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1">
                <a:solidFill>
                  <a:srgbClr val="2196F3"/>
                </a:solidFill>
                <a:latin typeface="Calibri"/>
              </a:rPr>
              <a:t>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212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0">
                <a:solidFill>
                  <a:srgbClr val="333333"/>
                </a:solidFill>
                <a:latin typeface="Consolas"/>
              </a:rPr>
              <a:t>data (positional)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500" b="0">
                <a:solidFill>
                  <a:srgbClr val="333333"/>
                </a:solidFill>
                <a:latin typeface="Calibri"/>
              </a:rPr>
              <a:t>Stateless — display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1">
                <a:solidFill>
                  <a:srgbClr val="2196F3"/>
                </a:solidFill>
                <a:latin typeface="Calibri"/>
              </a:rPr>
              <a:t>TextField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715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700" b="0">
                <a:solidFill>
                  <a:srgbClr val="333333"/>
                </a:solidFill>
                <a:latin typeface="Consolas"/>
              </a:rPr>
              <a:t>controller: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715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500" b="0">
                <a:solidFill>
                  <a:srgbClr val="333333"/>
                </a:solidFill>
                <a:latin typeface="Calibri"/>
              </a:rPr>
              <a:t>Stateful — user input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⚠ child vs children — THE #1 quiz trick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600" b="1">
                <a:solidFill>
                  <a:srgbClr val="FFFFFF"/>
                </a:solidFill>
                <a:latin typeface="Calibri"/>
              </a:rPr>
              <a:t>child:  (singular)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FBC02D"/>
                </a:solidFill>
                <a:latin typeface="Calibri"/>
              </a:rPr>
              <a:t>🚼 stroller — one baby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Used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0">
                <a:solidFill>
                  <a:srgbClr val="FFFFFF"/>
                </a:solidFill>
                <a:latin typeface="Calibri"/>
              </a:rPr>
              <a:t>• Center
• Container
• Padding
• All Buttons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600" b="1">
                <a:solidFill>
                  <a:srgbClr val="FFFFFF"/>
                </a:solidFill>
                <a:latin typeface="Calibri"/>
              </a:rPr>
              <a:t>children: [ ...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000" b="0">
                <a:solidFill>
                  <a:srgbClr val="FBC02D"/>
                </a:solidFill>
                <a:latin typeface="Calibri"/>
              </a:rPr>
              <a:t>🚌 school bus — a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Used 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0">
                <a:solidFill>
                  <a:srgbClr val="FFFFFF"/>
                </a:solidFill>
                <a:latin typeface="Calibri"/>
              </a:rPr>
              <a:t>• Row
• Column
• ListView
•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1800" b="1">
                <a:solidFill>
                  <a:srgbClr val="C62828"/>
                </a:solidFill>
                <a:latin typeface="Calibri"/>
              </a:rPr>
              <a:t>📌 Singular = one widget. Plural with 'ren' = a list.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Buttons always need TWO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FilledButton, TextButton, OutlinedButton, ElevatedButton...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400" b="1">
                <a:solidFill>
                  <a:srgbClr val="0A2E4F"/>
                </a:solidFill>
                <a:latin typeface="Calibri"/>
              </a:rPr>
              <a:t>All require: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1">
                <a:solidFill>
                  <a:srgbClr val="2E7D32"/>
                </a:solidFill>
                <a:latin typeface="Consolas"/>
              </a:rPr>
              <a:t>✅  onPressed: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0">
                <a:solidFill>
                  <a:srgbClr val="333333"/>
                </a:solidFill>
                <a:latin typeface="Calibri"/>
              </a:rPr>
              <a:t>what to do when tapped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200" b="1">
                <a:solidFill>
                  <a:srgbClr val="2E7D32"/>
                </a:solidFill>
                <a:latin typeface="Consolas"/>
              </a:rPr>
              <a:t>✅  child: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800" b="0">
                <a:solidFill>
                  <a:srgbClr val="333333"/>
                </a:solidFill>
                <a:latin typeface="Calibri"/>
              </a:rPr>
              <a:t>what to display (usually a Text)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1800">
                <a:solidFill>
                  <a:srgbClr val="E8E8E8"/>
                </a:solidFill>
                <a:latin typeface="Consolas"/>
              </a:rPr>
              <a:t>OutlinedButton(onPressed: () {}, child: Text('Save'))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runApp() takes a Widget — not a String!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void main() {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 runApp(MyApp());          // ✅ a Widget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 runApp(Text('Hi'));       // ✅ also a Widget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 runApp(MaterialApp(...)); // ✅ also a Widget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  runApp('Hi');             // ❌ Strings are NOT widgets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200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800" b="1">
                <a:solidFill>
                  <a:srgbClr val="FBC02D"/>
                </a:solidFill>
                <a:latin typeface="Calibri"/>
              </a:rP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5200" b="1">
                <a:solidFill>
                  <a:srgbClr val="FFFFFF"/>
                </a:solidFill>
                <a:latin typeface="Calibri"/>
              </a:rPr>
              <a:t>TextField + TextEditingController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2196F3"/>
                </a:solidFill>
                <a:latin typeface="Calibri"/>
              </a:rPr>
              <a:t>MAD Quiz Prep — Flutter &amp; Dart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Reading and clearing user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124712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 marL="0" indent="0" lvl="0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// 1. Create the controller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final _nameController = TextEditingController();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// 2. Attach it to the TextField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TextField(controller: _nameController);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// 3. Read what the user typed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print(_nameController.text);    // ✅ .text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 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// 4. Clear the field</a:t>
            </a:r>
          </a:p>
          <a:p>
            <a:pPr marL="0" indent="0" lvl="0" algn="l">
              <a:spcAft>
                <a:spcPts val="200"/>
              </a:spcAft>
              <a:buNone/>
            </a:pPr>
            <a:r>
              <a:rPr sz="1700">
                <a:solidFill>
                  <a:srgbClr val="E8E8E8"/>
                </a:solidFill>
                <a:latin typeface="Consolas"/>
              </a:rPr>
              <a:t>_nameController.text = '';      // ✅ empty 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1">
                <a:solidFill>
                  <a:srgbClr val="C62828"/>
                </a:solidFill>
                <a:latin typeface="Calibri"/>
              </a:rPr>
              <a:t>🚫 No .value / .number / .string — only .text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4000" b="1">
                <a:solidFill>
                  <a:srgbClr val="FBC02D"/>
                </a:solidFill>
                <a:latin typeface="Calibri"/>
              </a:rPr>
              <a:t>THE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Flutter = UI toolkit.  Dart = language.  Both open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7335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Entry point:  void main() {}  (lowercase, void)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6654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Text &amp; Icon → Stateless.  TextField &amp; Checkbox → Stateful.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97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runApp() takes a Widget — never a String.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52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Build method for StatefulWidget lives in the State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home: → MaterialApp.   appBar: → Scaffold.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393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child: (singular) → Center, Container, Buttons.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325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children: (list [...]) → Row, Column.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256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Buttons need BOTH onPressed and child.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18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Controller.text  to read.   Controller.text = '';  to clear.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final  must be initialized at declaration.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0527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int ≠ double.  {'Hi'} is a Set, not a String.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984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✓  Map = {'k': v}.  ?? = fallback if null.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6400" b="1">
                <a:solidFill>
                  <a:srgbClr val="FFFFFF"/>
                </a:solidFill>
                <a:latin typeface="Calibri"/>
              </a:rPr>
              <a:t>QUICK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800" b="0">
                <a:solidFill>
                  <a:srgbClr val="FBC02D"/>
                </a:solidFill>
                <a:latin typeface="Calibri"/>
              </a:rPr>
              <a:t>Let's test your understanding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Practice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Don't peek — try first!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0A2E4F"/>
                </a:solidFill>
                <a:latin typeface="Calibri"/>
              </a:rPr>
              <a:t>Which gets user input from a TextField (with _emailController)?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A)  _emailController.input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B)  _emailController.value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1">
                <a:solidFill>
                  <a:srgbClr val="2E7D32"/>
                </a:solidFill>
                <a:latin typeface="Consolas"/>
              </a:rPr>
              <a:t>C)  _emailController.text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D)  _emailController.data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1">
                <a:solidFill>
                  <a:srgbClr val="2E7D32"/>
                </a:solidFill>
                <a:latin typeface="Calibri"/>
              </a:rPr>
              <a:t>✅ Answer: C — .text is the property exposing the typed value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Practice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Don't peek — try first!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0A2E4F"/>
                </a:solidFill>
                <a:latin typeface="Calibri"/>
              </a:rPr>
              <a:t>Which parameter belongs to the Row widget?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A)  child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1">
                <a:solidFill>
                  <a:srgbClr val="2E7D32"/>
                </a:solidFill>
                <a:latin typeface="Consolas"/>
              </a:rPr>
              <a:t>B)  children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C)  Children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D)  Color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1">
                <a:solidFill>
                  <a:srgbClr val="2E7D32"/>
                </a:solidFill>
                <a:latin typeface="Calibri"/>
              </a:rPr>
              <a:t>✅ Answer: B — Row holds multiple widgets — use children: with a list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Practice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Don't peek — try first!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0A2E4F"/>
                </a:solidFill>
                <a:latin typeface="Calibri"/>
              </a:rPr>
              <a:t>What is `var data = {'apple': 3, 'banana': 7};`?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A)  A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B)  A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1">
                <a:solidFill>
                  <a:srgbClr val="2E7D32"/>
                </a:solidFill>
                <a:latin typeface="Consolas"/>
              </a:rPr>
              <a:t>C)  A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D)  A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1">
                <a:solidFill>
                  <a:srgbClr val="2E7D32"/>
                </a:solidFill>
                <a:latin typeface="Calibri"/>
              </a:rPr>
              <a:t>✅ Answer: C — Curly braces with key: value pairs create a Map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Practice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Don't peek — try first!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0A2E4F"/>
                </a:solidFill>
                <a:latin typeface="Calibri"/>
              </a:rPr>
              <a:t>Which CANNOT be passed to runApp()?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A)  A Scaffold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B)  A MaterialApp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C)  A Container 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1">
                <a:solidFill>
                  <a:srgbClr val="2E7D32"/>
                </a:solidFill>
                <a:latin typeface="Consolas"/>
              </a:rPr>
              <a:t>D)  An int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1">
                <a:solidFill>
                  <a:srgbClr val="2E7D32"/>
                </a:solidFill>
                <a:latin typeface="Calibri"/>
              </a:rPr>
              <a:t>✅ Answer: D — runApp() requires a Widget — int is not a widget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Practice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Don't peek — try first!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0A2E4F"/>
                </a:solidFill>
                <a:latin typeface="Calibri"/>
              </a:rPr>
              <a:t>What does `int? a; var b = 100; print(a ?? b);` output?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A)  compile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B)  a??b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1">
                <a:solidFill>
                  <a:srgbClr val="2E7D32"/>
                </a:solidFill>
                <a:latin typeface="Consolas"/>
              </a:rPr>
              <a:t>C) 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D) 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1">
                <a:solidFill>
                  <a:srgbClr val="2E7D32"/>
                </a:solidFill>
                <a:latin typeface="Calibri"/>
              </a:rPr>
              <a:t>✅ Answer: C — a is null, so ?? returns the right side (100)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3600" b="1">
                <a:solidFill>
                  <a:srgbClr val="0A2E4F"/>
                </a:solidFill>
                <a:latin typeface="Calibri"/>
              </a:rPr>
              <a:t>Practice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alibri"/>
              </a:rPr>
              <a:t>Don't peek — try first!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200" b="1">
                <a:solidFill>
                  <a:srgbClr val="0A2E4F"/>
                </a:solidFill>
                <a:latin typeface="Calibri"/>
              </a:rPr>
              <a:t>In which class is build() overridden for a StatefulWidget?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A)  StatefulWidget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B)  StatelessWidget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1">
                <a:solidFill>
                  <a:srgbClr val="2E7D32"/>
                </a:solidFill>
                <a:latin typeface="Consolas"/>
              </a:rPr>
              <a:t>C) 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2000" b="0">
                <a:solidFill>
                  <a:srgbClr val="333333"/>
                </a:solidFill>
                <a:latin typeface="Consolas"/>
              </a:rPr>
              <a:t>D)  All the mentioned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>
              <a:buNone/>
            </a:pPr>
            <a:r>
              <a:rPr sz="1600" b="1">
                <a:solidFill>
                  <a:srgbClr val="2E7D32"/>
                </a:solidFill>
                <a:latin typeface="Calibri"/>
              </a:rPr>
              <a:t>✅ Answer: C — Build lives in the State subclass, not the StatefulWidget itself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6000" b="1">
                <a:solidFill>
                  <a:srgbClr val="FFFFFF"/>
                </a:solidFill>
                <a:latin typeface="Calibri"/>
              </a:rPr>
              <a:t>You've got this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2400" b="0">
                <a:solidFill>
                  <a:srgbClr val="FBC02D"/>
                </a:solidFill>
                <a:latin typeface="Calibri"/>
              </a:rPr>
              <a:t>Read the STUDY_GUIDE.md and try the PRACTICE_QUIZ.md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vl="0" algn="ctr">
              <a:buNone/>
            </a:pPr>
            <a:r>
              <a:rPr sz="3200" b="1">
                <a:solidFill>
                  <a:srgbClr val="2196F3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